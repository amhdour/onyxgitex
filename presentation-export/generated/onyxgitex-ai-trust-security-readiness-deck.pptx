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Trust &amp; Security Readiness for RAG and Autonomous Agents</a:t>
            </a:r>
          </a:p>
          <a:p/>
          <a:p>
            <a:r>
              <a:t>Introduce this as a methodology and portfolio, not a production approval statement.</a:t>
            </a:r>
          </a:p>
          <a:p/>
          <a:p>
            <a:r>
              <a:t>Claim boundary: Do not claim production readiness, GO, or client evidence verification.</a:t>
            </a:r>
          </a:p>
          <a:p>
            <a:r>
              <a:t>Source: pitch-deck-pack/01-slide-title.md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AI Systems Move Faster Than Their Evidence</a:t>
            </a:r>
          </a:p>
          <a:p/>
          <a:p>
            <a:r>
              <a:t>Frame the gap between visible progress and auditable proof.</a:t>
            </a:r>
          </a:p>
          <a:p/>
          <a:p>
            <a:r>
              <a:t>Claim boundary: This deck identifies risk patterns; it does not assert resolved risk for any client deployment.</a:t>
            </a:r>
          </a:p>
          <a:p>
            <a:r>
              <a:t>Source: pitch-deck-pack/02-slide-problem.md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Solution: Evidence-Based Readiness and Launch Gates</a:t>
            </a:r>
          </a:p>
          <a:p/>
          <a:p>
            <a:r>
              <a:t>Emphasize evidence traceability and fail-closed policy posture.</a:t>
            </a:r>
          </a:p>
          <a:p/>
          <a:p>
            <a:r>
              <a:t>Claim boundary: Methodology guidance only; no production approval implied.</a:t>
            </a:r>
          </a:p>
          <a:p>
            <a:r>
              <a:t>Source: pitch-deck-pack/03-slide-solution.md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Evidence Chain</a:t>
            </a:r>
          </a:p>
          <a:p/>
          <a:p>
            <a:r>
              <a:t>Explain that each stage increases confidence but does not equal production GO.</a:t>
            </a:r>
          </a:p>
          <a:p/>
          <a:p>
            <a:r>
              <a:t>Claim boundary: Real client evidence remains unverified.</a:t>
            </a:r>
          </a:p>
          <a:p>
            <a:r>
              <a:t>Source: pitch-deck-pack/04-slide-evidence-chain.md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Readiness: Retrieval Boundaries and Citation Safety</a:t>
            </a:r>
          </a:p>
          <a:p/>
          <a:p>
            <a:r>
              <a:t>Connect retrieval authorization to trust and auditability outcomes.</a:t>
            </a:r>
          </a:p>
          <a:p/>
          <a:p>
            <a:r>
              <a:t>Claim boundary: Demonstrates local evidence harnesses; does not prove client production safety.</a:t>
            </a:r>
          </a:p>
          <a:p>
            <a:r>
              <a:t>Source: pitch-deck-pack/05-slide-rag-readiness.md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and Observability: Evidence That Can Be Rechecked</a:t>
            </a:r>
          </a:p>
          <a:p/>
          <a:p>
            <a:r>
              <a:t>Reinforce that re-checkability is part of readiness quality.</a:t>
            </a:r>
          </a:p>
          <a:p/>
          <a:p>
            <a:r>
              <a:t>Claim boundary: This demonstrates recheckable evidence patterns, not client production acceptance.</a:t>
            </a:r>
          </a:p>
          <a:p>
            <a:r>
              <a:t>Source: pitch-deck-pack/06-slide-observability-and-ci.md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Runtime Safety: Identity, Tools, Approval, and Fail-Closed Behavior</a:t>
            </a:r>
          </a:p>
          <a:p/>
          <a:p>
            <a:r>
              <a:t>Position agent controls as mandatory for safe autonomy boundaries.</a:t>
            </a:r>
          </a:p>
          <a:p/>
          <a:p>
            <a:r>
              <a:t>Claim boundary: Local agent runtime evidence only; no real external production proof.</a:t>
            </a:r>
          </a:p>
          <a:p>
            <a:r>
              <a:t>Source: pitch-deck-pack/07-slide-agent-runtime-safety.md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Staging Demo: Mapping Evidence Into a Deployment Shape</a:t>
            </a:r>
          </a:p>
          <a:p/>
          <a:p>
            <a:r>
              <a:t>Clarify staging as a rehearsal layer before client-specific proof.</a:t>
            </a:r>
          </a:p>
          <a:p/>
          <a:p>
            <a:r>
              <a:t>Claim boundary: Staging-demo evidence model does not equal client deployment evidence.</a:t>
            </a:r>
          </a:p>
          <a:p>
            <a:r>
              <a:t>Source: pitch-deck-pack/08-slide-staging-demo.md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Client-Specific Production Template</a:t>
            </a:r>
          </a:p>
          <a:p/>
          <a:p>
            <a:r>
              <a:t>Explain this as the bridge from portfolio method to client execution.</a:t>
            </a:r>
          </a:p>
          <a:p/>
          <a:p>
            <a:r>
              <a:t>Claim boundary: Client evidence remains unverified in this repository state.</a:t>
            </a:r>
          </a:p>
          <a:p>
            <a:r>
              <a:t>Source: pitch-deck-pack/09-slide-client-production-template.md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Step: Client Discovery and Evidence Intake</a:t>
            </a:r>
          </a:p>
          <a:p/>
          <a:p>
            <a:r>
              <a:t>End with a concrete plan and clear NO-GO boundary until proof is complete.</a:t>
            </a:r>
          </a:p>
          <a:p/>
          <a:p>
            <a:r>
              <a:t>Claim boundary: GO decision remains false until real client evidence exists.</a:t>
            </a:r>
          </a:p>
          <a:p>
            <a:r>
              <a:t>Source: pitch-deck-pack/10-slide-next-step.md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AI Trust &amp; Security Readiness for RAG and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Evidence-based launch-gate methodology for internal knowledge assistants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41414"/>
                </a:solidFill>
                <a:latin typeface="Arial"/>
              </a:rPr>
              <a:t>Build confidence through evidence, not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88920"/>
            <a:ext cx="265176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RAG
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788920"/>
            <a:ext cx="265176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Agent
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88920"/>
            <a:ext cx="265176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Launch
Gates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3291840"/>
            <a:ext cx="91440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0" y="3291840"/>
            <a:ext cx="91440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3000" y="4251960"/>
            <a:ext cx="9966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AI systems often outpace security and governance evidence.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This package structures launch readiness around verifiable controls.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The portfolio combines RAG, observability, CI, and agent runtime checks.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Production readiness remains blocked without real client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Do not claim production readiness, GO, or client evidence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The Problem: AI Systems Move Faster Than Their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Delivery speed without verification creates launch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10972800" cy="54864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Speed without evidence causes security and governance blind 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4892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41414"/>
                </a:solidFill>
                <a:latin typeface="Arial"/>
              </a:rPr>
              <a:t>Fast AI Demo
• Answers appear quickly
• Functionality looks complete
• Launch pressure increases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48840"/>
            <a:ext cx="489204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41414"/>
                </a:solidFill>
                <a:latin typeface="Arial"/>
              </a:rPr>
              <a:t>Missing Evidence
• Boundaries unclear
• Tools under-governed
• Incidents hard to reconstruct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Teams can demo quickly but cannot always prove safe operation.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Identity boundaries, retrieval scope, and tool controls are often incomplete.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Unsupported outputs erode trust and decision quality.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Launch decisions require evidence continuity across design, build, and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This deck identifies risk patterns; it does not assert resolved risk for any client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The Solution: Evidence-Based Readiness and Launch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Structured validation before production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10972800" cy="54864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A launch gate is a decision framework backed by explicit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6002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Scope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62890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240280"/>
            <a:ext cx="16002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Controls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262890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2240280"/>
            <a:ext cx="16002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Tests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262890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0" y="2240280"/>
            <a:ext cx="16002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Evidence
Pack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62890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2240280"/>
            <a:ext cx="160020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Launch
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1014984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Define required evidence types before implementation completion.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Verify controls in local runtime, CI, staging, and client-specific templates.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Mark unknowns explicitly instead of converting assumptions into claims.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Keep production decision blocked until evidence acceptance criteria are met.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Methodology guidance only; no production approval implied.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The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From partial runtime checks to client production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Readiness maturity is incremental and evidence-scoped.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RAG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249174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748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49174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Obs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23560" y="249174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249174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Staging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89720" y="2491740"/>
            <a:ext cx="64008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29800" y="2148840"/>
            <a:ext cx="11430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953512"/>
            <a:ext cx="155448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2D2D2D"/>
                </a:solidFill>
                <a:latin typeface="Arial"/>
              </a:rPr>
              <a:t>Client
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40480"/>
            <a:ext cx="10058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D2D2D"/>
                </a:solidFill>
                <a:latin typeface="Arial"/>
              </a:defRPr>
            </a:pPr>
            <a:r>
              <a:t>Version 2A: partial runtime evidence for core behavior checks.</a:t>
            </a:r>
          </a:p>
          <a:p>
            <a:pPr>
              <a:spcAft>
                <a:spcPts val="700"/>
              </a:spcAft>
              <a:defRPr sz="1380">
                <a:solidFill>
                  <a:srgbClr val="2D2D2D"/>
                </a:solidFill>
                <a:latin typeface="Arial"/>
              </a:defRPr>
            </a:pPr>
            <a:r>
              <a:t>Versions 2B–2D: CI artifacts, observability, and agent runtime evidence.</a:t>
            </a:r>
          </a:p>
          <a:p>
            <a:pPr>
              <a:spcAft>
                <a:spcPts val="700"/>
              </a:spcAft>
              <a:defRPr sz="1380">
                <a:solidFill>
                  <a:srgbClr val="2D2D2D"/>
                </a:solidFill>
                <a:latin typeface="Arial"/>
              </a:defRPr>
            </a:pPr>
            <a:r>
              <a:t>Version 3: staging-demo evidence model for deployment-shape validation.</a:t>
            </a:r>
          </a:p>
          <a:p>
            <a:pPr>
              <a:spcAft>
                <a:spcPts val="700"/>
              </a:spcAft>
              <a:defRPr sz="1380">
                <a:solidFill>
                  <a:srgbClr val="2D2D2D"/>
                </a:solidFill>
                <a:latin typeface="Arial"/>
              </a:defRPr>
            </a:pPr>
            <a:r>
              <a:t>Version 4: client-specific production template requiring real client inputs.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Real client evidence remains unverified.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RAG Readiness: Retrieval Boundaries and Citation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Retrieval controls are central to trustworthy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Retrieval boundaries and citation checks reduce unsupported response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651760"/>
            <a:ext cx="91440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2240280"/>
            <a:ext cx="182880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Policy
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651760"/>
            <a:ext cx="91440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224028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Retrieval
Index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75320" y="2651760"/>
            <a:ext cx="91440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224028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41414"/>
                </a:solidFill>
                <a:latin typeface="Arial"/>
              </a:rPr>
              <a:t>Cited
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24128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Enforce data-scope boundaries aligned to identity and policy.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Require citation-linked responses for high-stakes prompts.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Track unknown or partial evidence where controls are not fully validated.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Keep fail-closed behavior when retrieval authorization is uncertain.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Demonstrates local evidence harnesses; does not prove client production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CI and Observability: Evidence That Can Be Rechecked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Repeatability matters more than one-time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Reliable launch decisions require evidence that can be reproduced.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240280"/>
            <a:ext cx="22402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CI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240280"/>
            <a:ext cx="22402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Artifact
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794760"/>
            <a:ext cx="22402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Runtime
Traces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794760"/>
            <a:ext cx="22402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633472"/>
            <a:ext cx="169164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36208" y="3017520"/>
            <a:ext cx="0" cy="77724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429000" y="4187952"/>
            <a:ext cx="169164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04288" y="3017520"/>
            <a:ext cx="0" cy="77724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0" y="2011680"/>
            <a:ext cx="33832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CI artifact proof preserves objective verification history.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Observability correlation ties control behavior to runtime traces.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Validation scripts reduce manual claim drift in future updates.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rial"/>
              </a:defRPr>
            </a:pPr>
            <a:r>
              <a:t>Evidence should be re-runnable before each major decision gate.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This demonstrates recheckable evidence patterns, not client production acceptance.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Agent Runtime Safety: Identity, Tools, Approval, and Fail-Closed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Autonomous behavior requires explicit runtime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Agent capability must be constrained by identity, policy, and tool approvals.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0">
                <a:solidFill>
                  <a:srgbClr val="141414"/>
                </a:solidFill>
                <a:latin typeface="Arial"/>
              </a:rPr>
              <a:t>Identity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606040"/>
            <a:ext cx="73152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240280"/>
            <a:ext cx="1417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41414"/>
                </a:solidFill>
                <a:latin typeface="Arial"/>
              </a:rPr>
              <a:t>Policy
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2606040"/>
            <a:ext cx="73152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240280"/>
            <a:ext cx="141732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41414"/>
                </a:solidFill>
                <a:latin typeface="Arial"/>
              </a:rPr>
              <a:t>Tool
Authorization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2606040"/>
            <a:ext cx="73152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23760" y="224028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0">
                <a:solidFill>
                  <a:srgbClr val="141414"/>
                </a:solidFill>
                <a:latin typeface="Arial"/>
              </a:rPr>
              <a:t>Action/
Block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606040"/>
            <a:ext cx="73152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224028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0">
                <a:solidFill>
                  <a:srgbClr val="141414"/>
                </a:solidFill>
                <a:latin typeface="Arial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2412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Identity context must persist across planning and tool use steps.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Tool invocation should follow explicit authorization checks.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Denied or uncertain actions should fail closed with logged rationale.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Runtime evidence should show policy decisions and control outcomes.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Local agent runtime evidence only; no real external production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Staging Demo: Mapping Evidence Into a Deployment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Pre-production topology for readiness rehearsal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Staging demonstrations test evidence placement within realistic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57400"/>
            <a:ext cx="1874519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5740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Retrieval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5740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Audit Sink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5760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657600"/>
            <a:ext cx="1874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Secrets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1874519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Observability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657600"/>
            <a:ext cx="1874519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41414"/>
                </a:solidFill>
                <a:latin typeface="Arial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30">
                <a:solidFill>
                  <a:srgbClr val="2D2D2D"/>
                </a:solidFill>
                <a:latin typeface="Arial"/>
              </a:defRPr>
            </a:pPr>
            <a:r>
              <a:t>Service-map blocks reveal integration dependencies and observation points.</a:t>
            </a:r>
          </a:p>
          <a:p>
            <a:pPr>
              <a:spcAft>
                <a:spcPts val="700"/>
              </a:spcAft>
              <a:defRPr sz="1230">
                <a:solidFill>
                  <a:srgbClr val="2D2D2D"/>
                </a:solidFill>
                <a:latin typeface="Arial"/>
              </a:defRPr>
            </a:pPr>
            <a:r>
              <a:t>Staging checks verify whether controls remain visible after composition.</a:t>
            </a:r>
          </a:p>
          <a:p>
            <a:pPr>
              <a:spcAft>
                <a:spcPts val="700"/>
              </a:spcAft>
              <a:defRPr sz="1230">
                <a:solidFill>
                  <a:srgbClr val="2D2D2D"/>
                </a:solidFill>
                <a:latin typeface="Arial"/>
              </a:defRPr>
            </a:pPr>
            <a:r>
              <a:t>Gaps discovered in staging feed back into control and evidence design.</a:t>
            </a:r>
          </a:p>
          <a:p>
            <a:pPr>
              <a:spcAft>
                <a:spcPts val="700"/>
              </a:spcAft>
              <a:defRPr sz="1230">
                <a:solidFill>
                  <a:srgbClr val="2D2D2D"/>
                </a:solidFill>
                <a:latin typeface="Arial"/>
              </a:defRPr>
            </a:pPr>
            <a:r>
              <a:t>Staging evidence supports planning, not production authorization.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Staging-demo evidence model does not equal client deployment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Client-Specific Production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Version 4 readiness framework for client evidence 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The template defines what must be proven for any real client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274320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192024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103120"/>
            <a:ext cx="192024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03120"/>
            <a:ext cx="274320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97479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Client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69747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9747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97479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Not filled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0040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Runtime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0040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Engineer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20040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0040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Client-specific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0332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70332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70332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70332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41414"/>
                </a:solidFill>
                <a:latin typeface="Arial"/>
              </a:rPr>
              <a:t>No signoff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2D2D2D"/>
                </a:solidFill>
                <a:latin typeface="Arial"/>
              </a:defRPr>
            </a:pPr>
            <a:r>
              <a:t>Capture client data classes, user roles, and policy requirements.</a:t>
            </a:r>
          </a:p>
          <a:p>
            <a:pPr>
              <a:spcAft>
                <a:spcPts val="700"/>
              </a:spcAft>
              <a:defRPr sz="1280">
                <a:solidFill>
                  <a:srgbClr val="2D2D2D"/>
                </a:solidFill>
                <a:latin typeface="Arial"/>
              </a:defRPr>
            </a:pPr>
            <a:r>
              <a:t>Map required runtime evidence and control ownership per environment.</a:t>
            </a:r>
          </a:p>
          <a:p>
            <a:pPr>
              <a:spcAft>
                <a:spcPts val="700"/>
              </a:spcAft>
              <a:defRPr sz="1280">
                <a:solidFill>
                  <a:srgbClr val="2D2D2D"/>
                </a:solidFill>
                <a:latin typeface="Arial"/>
              </a:defRPr>
            </a:pPr>
            <a:r>
              <a:t>Record residual risk and named approver responsibilities.</a:t>
            </a:r>
          </a:p>
          <a:p>
            <a:pPr>
              <a:spcAft>
                <a:spcPts val="700"/>
              </a:spcAft>
              <a:defRPr sz="1280">
                <a:solidFill>
                  <a:srgbClr val="2D2D2D"/>
                </a:solidFill>
                <a:latin typeface="Arial"/>
              </a:defRPr>
            </a:pPr>
            <a:r>
              <a:t>Maintain NO-GO until required client evidence is verified.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Client evidence remains unverified in this repository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1381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Arial"/>
              </a:rPr>
              <a:t>Next Step: Client Discovery and Evidence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rial"/>
              </a:rPr>
              <a:t>Convert template structure into client-specific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201400" cy="9144"/>
          </a:xfrm>
          <a:prstGeom prst="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96696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Portfolio/readiness methodology — not production-ready without real client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696969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88720"/>
            <a:ext cx="109728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The next milestone is client evidence acquisition and launch-gate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192024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Discovery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720340"/>
            <a:ext cx="82296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2331720"/>
            <a:ext cx="192024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Evidence
Intake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2720340"/>
            <a:ext cx="82296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2331720"/>
            <a:ext cx="192024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66760" y="2720340"/>
            <a:ext cx="822960" cy="0"/>
          </a:xfrm>
          <a:prstGeom prst="line">
            <a:avLst/>
          </a:prstGeom>
          <a:ln w="1524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2331720"/>
            <a:ext cx="192024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Launch Gate
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24128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Run discovery workshops for system scope, identity, and policy boundaries.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Populate Version 4 with real artifacts, logs, control tests, and approvals.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Re-run validations and update residual-risk decisions with named owners.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t>Proceed only when evidence acceptance criteria are satisfied.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Boundary: GO decision remains false until real client evidence exists.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